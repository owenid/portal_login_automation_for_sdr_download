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1234440"/>
            <a:ext cx="914400" cy="914400"/>
          </a:xfrm>
          <a:prstGeom prst="ellipse">
            <a:avLst/>
          </a:prstGeom>
          <a:solidFill>
            <a:srgbClr val="1B252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8104" y="1453896"/>
            <a:ext cx="475488" cy="47548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5146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3FE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SOLUTION WALKTHROUGH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0" y="288036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388620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automated monthly SDR / CDR download works, end to end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Architecture: Owen Idehen   ·   gradwell-cdr-downloader   ·   eu-west-2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covers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200619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6032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automate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manual process this replaces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53458" y="160020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27778" y="1874520"/>
            <a:ext cx="548640" cy="54864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2" y="200619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27778" y="256032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627778" y="292608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Trigger, auth, navigate, download, store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158277" y="160020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32597" y="1874520"/>
            <a:ext cx="548640" cy="54864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270" y="200619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32597" y="256032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432597" y="292608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Credentials, IAM scope, encryption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384048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24647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80060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16636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alarm and Datadog alerting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353458" y="384048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627778" y="4114800"/>
            <a:ext cx="548640" cy="54864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9452" y="424647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27778" y="480060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gaps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4627778" y="516636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not covered yet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8158277" y="384048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432597" y="4114800"/>
            <a:ext cx="548640" cy="54864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4270" y="424647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432597" y="480060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history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8432597" y="516636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design evolved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needed automating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64008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6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logs in, clicks through Admin → SDR, and downloads one CSV — every single month</a:t>
            </a:r>
            <a:endParaRPr lang="en-US" sz="1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6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forget, run late, or grab the wrong billing period</a:t>
            </a:r>
            <a:endParaRPr lang="en-US" sz="1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6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record of whether it happened this month, or why it failed if it didn't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589520" y="1737360"/>
            <a:ext cx="4053535" cy="3840480"/>
          </a:xfrm>
          <a:prstGeom prst="roundRect">
            <a:avLst>
              <a:gd name="adj" fmla="val 2381"/>
            </a:avLst>
          </a:prstGeom>
          <a:solidFill>
            <a:srgbClr val="152227"/>
          </a:solidFill>
          <a:ln/>
        </p:spPr>
      </p:sp>
      <p:sp>
        <p:nvSpPr>
          <p:cNvPr id="5" name="Shape 3"/>
          <p:cNvSpPr/>
          <p:nvPr/>
        </p:nvSpPr>
        <p:spPr>
          <a:xfrm>
            <a:off x="9159088" y="2194560"/>
            <a:ext cx="914400" cy="914400"/>
          </a:xfrm>
          <a:prstGeom prst="ellipse">
            <a:avLst/>
          </a:prstGeom>
          <a:solidFill>
            <a:srgbClr val="24333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8544" y="2414016"/>
            <a:ext cx="475488" cy="4754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3291840"/>
            <a:ext cx="4053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 / month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3977640"/>
            <a:ext cx="3504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task, indefinitely — until it isn't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at a glance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scheduled AWS Lambda replaces the manual process — logging in, navigating, downloading, and storing the file automatically.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2567864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33172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202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steps required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90824" y="2057400"/>
            <a:ext cx="2567864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390824" y="233172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73704" y="3291840"/>
            <a:ext cx="2202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time, on the 1st of every month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3008" y="2057400"/>
            <a:ext cx="2567864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33008" y="233172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15888" y="3291840"/>
            <a:ext cx="2202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runtime per invocation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75191" y="2057400"/>
            <a:ext cx="2567864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075191" y="233172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58071" y="3291840"/>
            <a:ext cx="2202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pages visited: SSO → Admin → CDR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09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 SAM (CloudFormation) — Lambda, S3, Secrets Manager, EventBridge Scheduler, and CloudWatch, entirely serverless.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together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70432"/>
            <a:ext cx="146304" cy="146304"/>
          </a:xfrm>
          <a:prstGeom prst="rect">
            <a:avLst/>
          </a:prstGeom>
          <a:solidFill>
            <a:srgbClr val="3E546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68096" y="10789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AWS-owned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474720" y="1170432"/>
            <a:ext cx="146304" cy="146304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94176" y="10789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· Gradwell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0" y="1170432"/>
            <a:ext cx="146304" cy="146304"/>
          </a:xfrm>
          <a:prstGeom prst="rect">
            <a:avLst/>
          </a:prstGeom>
          <a:solidFill>
            <a:srgbClr val="9C6B1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0256" y="10789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boundary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88920" y="2331720"/>
            <a:ext cx="3200400" cy="2148840"/>
          </a:xfrm>
          <a:prstGeom prst="roundRect">
            <a:avLst>
              <a:gd name="adj" fmla="val 3404"/>
            </a:avLst>
          </a:prstGeom>
          <a:ln w="15875">
            <a:solidFill>
              <a:srgbClr val="9C6B18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2788920" y="212140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C6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ROLE · LEAST PRIVILEGE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E8ECEF"/>
          </a:solidFill>
          <a:ln w="15875">
            <a:solidFill>
              <a:srgbClr val="3E54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971800"/>
            <a:ext cx="1746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</a:rPr>
              <a:t>Amazon EventBridge
</a:t>
            </a:r>
            <a:endParaRPr lang="en-US" sz="12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</a:rPr>
              <a:t>Scheduler
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E6167"/>
                </a:solidFill>
              </a:rPr>
              <a:t>09:00 Europe/London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514600" y="3401568"/>
            <a:ext cx="411480" cy="9144"/>
          </a:xfrm>
          <a:prstGeom prst="line">
            <a:avLst/>
          </a:prstGeom>
          <a:noFill/>
          <a:ln w="19050">
            <a:solidFill>
              <a:srgbClr val="3E5468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2560320" y="312724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017520" y="2514600"/>
            <a:ext cx="2743200" cy="1783080"/>
          </a:xfrm>
          <a:prstGeom prst="roundRect">
            <a:avLst>
              <a:gd name="adj" fmla="val 4103"/>
            </a:avLst>
          </a:prstGeom>
          <a:solidFill>
            <a:srgbClr val="E8ECEF"/>
          </a:solidFill>
          <a:ln w="15875">
            <a:solidFill>
              <a:srgbClr val="3E54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27248" y="2606040"/>
            <a:ext cx="25237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27"/>
                </a:solidFill>
              </a:rPr>
              <a:t>AWS Lambda
</a:t>
            </a:r>
            <a:endParaRPr lang="en-US" sz="13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</a:rPr>
              <a:t>CdrDownloaderFunction
</a:t>
            </a:r>
            <a:endParaRPr lang="en-US" sz="13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</a:rPr>
              <a:t>Node.js 22 · x86_64
</a:t>
            </a:r>
            <a:endParaRPr lang="en-US" sz="13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</a:rPr>
              <a:t>Playwright + Chromium
</a:t>
            </a:r>
            <a:endParaRPr lang="en-US" sz="13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</a:rPr>
              <a:t>2048 MB · 180s timeout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9052560" y="50292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6EAD3"/>
          </a:solidFill>
          <a:ln w="15875">
            <a:solidFill>
              <a:srgbClr val="9C6B1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62288" y="576072"/>
            <a:ext cx="23865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52227"/>
                </a:solidFill>
              </a:rPr>
              <a:t>AWS Secrets Manager
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E6167"/>
                </a:solidFill>
              </a:rPr>
              <a:t>prod/AdminPortal/Gradwell
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E6167"/>
                </a:solidFill>
              </a:rPr>
              <a:t>username + password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 flipV="1">
            <a:off x="5760720" y="960120"/>
            <a:ext cx="3246120" cy="1691640"/>
          </a:xfrm>
          <a:prstGeom prst="line">
            <a:avLst/>
          </a:prstGeom>
          <a:noFill/>
          <a:ln w="19050">
            <a:solidFill>
              <a:srgbClr val="9C6B18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446520" y="16002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6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GetSecretValue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052560" y="169164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DFF4EF"/>
          </a:solidFill>
          <a:ln w="15875">
            <a:solidFill>
              <a:srgbClr val="0E9C87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9052560" y="178308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· THIRD PARTY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189720" y="2103120"/>
            <a:ext cx="2331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0E9C8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62872" y="2157984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2227"/>
                </a:solidFill>
              </a:rPr>
              <a:t>SSO login
</a:t>
            </a:r>
            <a:endParaRPr lang="en-US" sz="10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E6167"/>
                </a:solidFill>
              </a:rPr>
              <a:t>sso.prod.gradwell.com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355580" y="2670048"/>
            <a:ext cx="9144" cy="73152"/>
          </a:xfrm>
          <a:prstGeom prst="line">
            <a:avLst/>
          </a:prstGeom>
          <a:noFill/>
          <a:ln w="19050">
            <a:solidFill>
              <a:srgbClr val="0E9C87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189720" y="2743200"/>
            <a:ext cx="2331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0E9C8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62872" y="2798064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2227"/>
                </a:solidFill>
              </a:rPr>
              <a:t>Admin home
</a:t>
            </a:r>
            <a:endParaRPr lang="en-US" sz="10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E6167"/>
                </a:solidFill>
              </a:rPr>
              <a:t>admin.prod.gradwell.com/home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355580" y="3310128"/>
            <a:ext cx="9144" cy="73152"/>
          </a:xfrm>
          <a:prstGeom prst="line">
            <a:avLst/>
          </a:prstGeom>
          <a:noFill/>
          <a:ln w="19050">
            <a:solidFill>
              <a:srgbClr val="0E9C8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189720" y="338328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0E9C8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62872" y="3438144"/>
            <a:ext cx="218541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2227"/>
                </a:solidFill>
              </a:rPr>
              <a:t>CDR list → verify + download
</a:t>
            </a:r>
            <a:endParaRPr lang="en-US" sz="10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E6167"/>
                </a:solidFill>
              </a:rPr>
              <a:t>admin.prod.gradwell.com/cdrs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431596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C6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of month only: not yet published → CDR-E09 (see CloudWatch)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 flipV="1">
            <a:off x="5760720" y="2926080"/>
            <a:ext cx="3246120" cy="320040"/>
          </a:xfrm>
          <a:prstGeom prst="line">
            <a:avLst/>
          </a:prstGeom>
          <a:noFill/>
          <a:ln w="19050">
            <a:solidFill>
              <a:srgbClr val="0E9C87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5943600" y="27889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browser automation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052560" y="516636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E8ECEF"/>
          </a:solidFill>
          <a:ln w="15875">
            <a:solidFill>
              <a:srgbClr val="3E54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162288" y="5257800"/>
            <a:ext cx="2386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</a:rPr>
              <a:t>Amazon S3
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E6167"/>
                </a:solidFill>
              </a:rPr>
              <a:t>cdr/&lt;year&gt;/&lt;month&gt;/…
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E6167"/>
                </a:solidFill>
              </a:rPr>
              <a:t>private · SSE-AES256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760720" y="3931920"/>
            <a:ext cx="3246120" cy="1645920"/>
          </a:xfrm>
          <a:prstGeom prst="line">
            <a:avLst/>
          </a:prstGeom>
          <a:noFill/>
          <a:ln w="19050">
            <a:solidFill>
              <a:srgbClr val="3E5468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46520" y="47091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PutObject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017520" y="51663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D5E1D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127248" y="5239512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6167"/>
                </a:solidFill>
              </a:rPr>
              <a:t>CloudWatch Logs
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E6167"/>
                </a:solidFill>
              </a:rPr>
              <a:t>coded errors · kept 400 days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389120" y="4297680"/>
            <a:ext cx="9144" cy="822960"/>
          </a:xfrm>
          <a:prstGeom prst="line">
            <a:avLst/>
          </a:prstGeom>
          <a:noFill/>
          <a:ln w="19050">
            <a:solidFill>
              <a:srgbClr val="D5E1DF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invocation, six steps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473175" y="3429000"/>
            <a:ext cx="9245346" cy="0"/>
          </a:xfrm>
          <a:prstGeom prst="line">
            <a:avLst/>
          </a:prstGeom>
          <a:noFill/>
          <a:ln w="25400">
            <a:solidFill>
              <a:srgbClr val="D5E1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3407" y="2999232"/>
            <a:ext cx="859536" cy="859536"/>
          </a:xfrm>
          <a:prstGeom prst="ellipse">
            <a:avLst/>
          </a:prstGeom>
          <a:solidFill>
            <a:srgbClr val="F4F7F6"/>
          </a:solidFill>
          <a:ln/>
        </p:spPr>
      </p:sp>
      <p:sp>
        <p:nvSpPr>
          <p:cNvPr id="5" name="Shape 3"/>
          <p:cNvSpPr/>
          <p:nvPr/>
        </p:nvSpPr>
        <p:spPr>
          <a:xfrm>
            <a:off x="1061695" y="3017520"/>
            <a:ext cx="822960" cy="82296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9205" y="321503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610335" y="2944368"/>
            <a:ext cx="310896" cy="310896"/>
          </a:xfrm>
          <a:prstGeom prst="ellipse">
            <a:avLst/>
          </a:prstGeom>
          <a:solidFill>
            <a:srgbClr val="152227"/>
          </a:solidFill>
          <a:ln w="19050">
            <a:solidFill>
              <a:srgbClr val="F4F7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10335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005072"/>
            <a:ext cx="18490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4343400"/>
            <a:ext cx="170276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 fires at 09:00 UK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892476" y="2999232"/>
            <a:ext cx="859536" cy="859536"/>
          </a:xfrm>
          <a:prstGeom prst="ellipse">
            <a:avLst/>
          </a:prstGeom>
          <a:solidFill>
            <a:srgbClr val="F4F7F6"/>
          </a:solidFill>
          <a:ln/>
        </p:spPr>
      </p:sp>
      <p:sp>
        <p:nvSpPr>
          <p:cNvPr id="12" name="Shape 9"/>
          <p:cNvSpPr/>
          <p:nvPr/>
        </p:nvSpPr>
        <p:spPr>
          <a:xfrm>
            <a:off x="2910764" y="3017520"/>
            <a:ext cx="822960" cy="82296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274" y="3215030"/>
            <a:ext cx="427939" cy="427939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459404" y="2944368"/>
            <a:ext cx="310896" cy="310896"/>
          </a:xfrm>
          <a:prstGeom prst="ellipse">
            <a:avLst/>
          </a:prstGeom>
          <a:solidFill>
            <a:srgbClr val="152227"/>
          </a:solidFill>
          <a:ln w="19050">
            <a:solidFill>
              <a:srgbClr val="F4F7F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459404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2397709" y="4005072"/>
            <a:ext cx="18490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2470861" y="4343400"/>
            <a:ext cx="170276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credentials, log into SSO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741545" y="2999232"/>
            <a:ext cx="859536" cy="859536"/>
          </a:xfrm>
          <a:prstGeom prst="ellipse">
            <a:avLst/>
          </a:prstGeom>
          <a:solidFill>
            <a:srgbClr val="F4F7F6"/>
          </a:solidFill>
          <a:ln/>
        </p:spPr>
      </p:sp>
      <p:sp>
        <p:nvSpPr>
          <p:cNvPr id="19" name="Shape 15"/>
          <p:cNvSpPr/>
          <p:nvPr/>
        </p:nvSpPr>
        <p:spPr>
          <a:xfrm>
            <a:off x="4759833" y="3017520"/>
            <a:ext cx="822960" cy="82296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7343" y="3215030"/>
            <a:ext cx="427939" cy="427939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5308473" y="2944368"/>
            <a:ext cx="310896" cy="310896"/>
          </a:xfrm>
          <a:prstGeom prst="ellipse">
            <a:avLst/>
          </a:prstGeom>
          <a:solidFill>
            <a:srgbClr val="152227"/>
          </a:solidFill>
          <a:ln w="19050">
            <a:solidFill>
              <a:srgbClr val="F4F7F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308473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4246778" y="4005072"/>
            <a:ext cx="18490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4319930" y="4343400"/>
            <a:ext cx="170276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→ CDR list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6590614" y="2999232"/>
            <a:ext cx="859536" cy="859536"/>
          </a:xfrm>
          <a:prstGeom prst="ellipse">
            <a:avLst/>
          </a:prstGeom>
          <a:solidFill>
            <a:srgbClr val="F4F7F6"/>
          </a:solidFill>
          <a:ln/>
        </p:spPr>
      </p:sp>
      <p:sp>
        <p:nvSpPr>
          <p:cNvPr id="26" name="Shape 21"/>
          <p:cNvSpPr/>
          <p:nvPr/>
        </p:nvSpPr>
        <p:spPr>
          <a:xfrm>
            <a:off x="6608902" y="3017520"/>
            <a:ext cx="822960" cy="822960"/>
          </a:xfrm>
          <a:prstGeom prst="ellipse">
            <a:avLst/>
          </a:prstGeom>
          <a:solidFill>
            <a:srgbClr val="DFF4EF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6413" y="3215030"/>
            <a:ext cx="427939" cy="427939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7157542" y="2944368"/>
            <a:ext cx="310896" cy="310896"/>
          </a:xfrm>
          <a:prstGeom prst="ellipse">
            <a:avLst/>
          </a:prstGeom>
          <a:solidFill>
            <a:srgbClr val="152227"/>
          </a:solidFill>
          <a:ln w="19050">
            <a:solidFill>
              <a:srgbClr val="F4F7F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157542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6095848" y="4005072"/>
            <a:ext cx="18490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50" dirty="0"/>
          </a:p>
        </p:txBody>
      </p:sp>
      <p:sp>
        <p:nvSpPr>
          <p:cNvPr id="31" name="Text 25"/>
          <p:cNvSpPr txBox="1"/>
          <p:nvPr/>
        </p:nvSpPr>
        <p:spPr>
          <a:xfrm>
            <a:off x="6169000" y="4343400"/>
            <a:ext cx="170276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latest period is published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8439683" y="2999232"/>
            <a:ext cx="859536" cy="859536"/>
          </a:xfrm>
          <a:prstGeom prst="ellipse">
            <a:avLst/>
          </a:prstGeom>
          <a:solidFill>
            <a:srgbClr val="F4F7F6"/>
          </a:solidFill>
          <a:ln/>
        </p:spPr>
      </p:sp>
      <p:sp>
        <p:nvSpPr>
          <p:cNvPr id="33" name="Shape 27"/>
          <p:cNvSpPr/>
          <p:nvPr/>
        </p:nvSpPr>
        <p:spPr>
          <a:xfrm>
            <a:off x="8457971" y="3017520"/>
            <a:ext cx="822960" cy="82296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5482" y="3215030"/>
            <a:ext cx="427939" cy="427939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006611" y="2944368"/>
            <a:ext cx="310896" cy="310896"/>
          </a:xfrm>
          <a:prstGeom prst="ellipse">
            <a:avLst/>
          </a:prstGeom>
          <a:solidFill>
            <a:srgbClr val="152227"/>
          </a:solidFill>
          <a:ln w="19050">
            <a:solidFill>
              <a:srgbClr val="F4F7F6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006611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7" name="Text 30"/>
          <p:cNvSpPr txBox="1"/>
          <p:nvPr/>
        </p:nvSpPr>
        <p:spPr>
          <a:xfrm>
            <a:off x="7944917" y="4005072"/>
            <a:ext cx="18490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350" dirty="0"/>
          </a:p>
        </p:txBody>
      </p:sp>
      <p:sp>
        <p:nvSpPr>
          <p:cNvPr id="38" name="Text 31"/>
          <p:cNvSpPr txBox="1"/>
          <p:nvPr/>
        </p:nvSpPr>
        <p:spPr>
          <a:xfrm>
            <a:off x="8018069" y="4343400"/>
            <a:ext cx="170276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file, write to S3</a:t>
            </a:r>
            <a:endParaRPr lang="en-US" sz="1000" dirty="0"/>
          </a:p>
        </p:txBody>
      </p:sp>
      <p:sp>
        <p:nvSpPr>
          <p:cNvPr id="39" name="Shape 32"/>
          <p:cNvSpPr/>
          <p:nvPr/>
        </p:nvSpPr>
        <p:spPr>
          <a:xfrm>
            <a:off x="10288753" y="2999232"/>
            <a:ext cx="859536" cy="859536"/>
          </a:xfrm>
          <a:prstGeom prst="ellipse">
            <a:avLst/>
          </a:prstGeom>
          <a:solidFill>
            <a:srgbClr val="F4F7F6"/>
          </a:solidFill>
          <a:ln/>
        </p:spPr>
      </p:sp>
      <p:sp>
        <p:nvSpPr>
          <p:cNvPr id="40" name="Shape 33"/>
          <p:cNvSpPr/>
          <p:nvPr/>
        </p:nvSpPr>
        <p:spPr>
          <a:xfrm>
            <a:off x="10307041" y="3017520"/>
            <a:ext cx="822960" cy="82296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4551" y="3215030"/>
            <a:ext cx="427939" cy="42793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855681" y="2944368"/>
            <a:ext cx="310896" cy="310896"/>
          </a:xfrm>
          <a:prstGeom prst="ellipse">
            <a:avLst/>
          </a:prstGeom>
          <a:solidFill>
            <a:srgbClr val="152227"/>
          </a:solidFill>
          <a:ln w="19050">
            <a:solidFill>
              <a:srgbClr val="F4F7F6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10855681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9793986" y="4005072"/>
            <a:ext cx="18490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350" dirty="0"/>
          </a:p>
        </p:txBody>
      </p:sp>
      <p:sp>
        <p:nvSpPr>
          <p:cNvPr id="45" name="Text 37"/>
          <p:cNvSpPr txBox="1"/>
          <p:nvPr/>
        </p:nvSpPr>
        <p:spPr>
          <a:xfrm>
            <a:off x="9867138" y="4343400"/>
            <a:ext cx="170276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Coded errors, screenshots, alarm</a:t>
            </a:r>
            <a:endParaRPr lang="en-US" sz="1000" dirty="0"/>
          </a:p>
        </p:txBody>
      </p:sp>
      <p:sp>
        <p:nvSpPr>
          <p:cNvPr id="46" name="Text 3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47" name="Text 39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Guarding against stale data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1st-of-month freshness check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6035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1st of the month, the newest CDR row should cover the period that just completed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Gradwell hasn't published it yet, downloading anyway would silently store last month's file under this month's key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Lambda checks this before downloading — and throws instead of guessing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49440" y="1783080"/>
            <a:ext cx="4693615" cy="3977640"/>
          </a:xfrm>
          <a:prstGeom prst="roundRect">
            <a:avLst>
              <a:gd name="adj" fmla="val 2299"/>
            </a:avLst>
          </a:prstGeom>
          <a:solidFill>
            <a:srgbClr val="1522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23760" y="2011680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E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VERIFYLATESTRECORDISAVAILABLE()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2423160"/>
            <a:ext cx="414497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today ≠ 1st of month: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skip check, proceed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newest CDR end-date ≠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last day of previous month: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throw CDR-E09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CloudWatch Logs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CdrDownloaderErrorsAlarm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Datadog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download latest file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considerations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1538021"/>
            <a:ext cx="261518" cy="26151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34440" y="137160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handling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1719072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 code or env vars — fetched from Secrets Manager at runtime, never logged or cached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278728" y="1417320"/>
            <a:ext cx="502920" cy="50292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9428" y="1538021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64528" y="137160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IAM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964528" y="1719072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write scoped to cdr/* and debug/* only; Secrets access scoped to one secret's ARN pattern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3154680"/>
            <a:ext cx="502920" cy="50292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327538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310896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hardening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234440" y="3456432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SSE-AES256 encryption at rest; all public access blocked at the bucket level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278728" y="3154680"/>
            <a:ext cx="502920" cy="50292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9428" y="3275381"/>
            <a:ext cx="261518" cy="26151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964528" y="310896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security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964528" y="3456432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— to Gradwell and to AWS services — is HTTPS only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4892040"/>
            <a:ext cx="502920" cy="50292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1" y="5012741"/>
            <a:ext cx="261518" cy="26151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34440" y="484632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inbound surface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1234440" y="5193792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Outbound-only Lambda; no API Gateway, no public endpoint to attack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278728" y="4892040"/>
            <a:ext cx="502920" cy="50292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9428" y="5012741"/>
            <a:ext cx="261518" cy="261518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64528" y="484632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visibility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6964528" y="5193792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Coded errors (CDR-E01–E11) with screenshots, plus a CloudWatch alarm on Errors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alerting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2430704" cy="1371600"/>
          </a:xfrm>
          <a:prstGeom prst="roundRect">
            <a:avLst>
              <a:gd name="adj" fmla="val 5333"/>
            </a:avLst>
          </a:prstGeom>
          <a:solidFill>
            <a:srgbClr val="E8ECEF"/>
          </a:solidFill>
          <a:ln w="15875">
            <a:solidFill>
              <a:srgbClr val="3E546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11680"/>
            <a:ext cx="2156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Errors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979344" y="2697480"/>
            <a:ext cx="457200" cy="9144"/>
          </a:xfrm>
          <a:prstGeom prst="line">
            <a:avLst/>
          </a:prstGeom>
          <a:noFill/>
          <a:ln w="19050">
            <a:solidFill>
              <a:srgbClr val="4E616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436544" y="2011680"/>
            <a:ext cx="2430704" cy="1371600"/>
          </a:xfrm>
          <a:prstGeom prst="roundRect">
            <a:avLst>
              <a:gd name="adj" fmla="val 5333"/>
            </a:avLst>
          </a:prstGeom>
          <a:solidFill>
            <a:srgbClr val="F6EAD3"/>
          </a:solidFill>
          <a:ln w="15875">
            <a:solidFill>
              <a:srgbClr val="9C6B1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73704" y="2011680"/>
            <a:ext cx="2156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CdrDownloader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ErrorsAlarm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67248" y="2697480"/>
            <a:ext cx="457200" cy="9144"/>
          </a:xfrm>
          <a:prstGeom prst="line">
            <a:avLst/>
          </a:prstGeom>
          <a:noFill/>
          <a:ln w="19050">
            <a:solidFill>
              <a:srgbClr val="4E6167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324448" y="2011680"/>
            <a:ext cx="2430704" cy="1371600"/>
          </a:xfrm>
          <a:prstGeom prst="roundRect">
            <a:avLst>
              <a:gd name="adj" fmla="val 5333"/>
            </a:avLst>
          </a:prstGeom>
          <a:solidFill>
            <a:srgbClr val="E8ECEF"/>
          </a:solidFill>
          <a:ln w="15875">
            <a:solidFill>
              <a:srgbClr val="3E5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1608" y="2011680"/>
            <a:ext cx="2156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topic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(DatadogForwarderTopicArn)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755151" y="2697480"/>
            <a:ext cx="457200" cy="9144"/>
          </a:xfrm>
          <a:prstGeom prst="line">
            <a:avLst/>
          </a:prstGeom>
          <a:noFill/>
          <a:ln w="19050">
            <a:solidFill>
              <a:srgbClr val="4E616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212351" y="2011680"/>
            <a:ext cx="2430704" cy="1371600"/>
          </a:xfrm>
          <a:prstGeom prst="roundRect">
            <a:avLst>
              <a:gd name="adj" fmla="val 5333"/>
            </a:avLst>
          </a:prstGeom>
          <a:solidFill>
            <a:srgbClr val="DFF4EF"/>
          </a:solidFill>
          <a:ln w="15875">
            <a:solidFill>
              <a:srgbClr val="0E9C8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49511" y="2011680"/>
            <a:ext cx="2156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Datadog Forwarder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monitor event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794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for a monthly cadence, not continuous traffic: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20624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1-day evaluation period on the Errors metric — an idle day reads as “no data,” not a failure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scheduled run day can actually trip the alarm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1st-of-month ALARM can legitimately mean “Gradwell hasn't published yet,” not just a bug — check the error code first (CDR-E09)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760720"/>
            <a:ext cx="11094415" cy="594360"/>
          </a:xfrm>
          <a:prstGeom prst="roundRect">
            <a:avLst>
              <a:gd name="adj" fmla="val 9231"/>
            </a:avLst>
          </a:prstGeom>
          <a:solidFill>
            <a:srgbClr val="F6EAD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576072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C6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alarm deployed — set DatadogForwarderTopicArn to a Forwarder SNS topic in eu-west-2 before alerts reach Datadog.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facts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215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22363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eu-west-2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379394" y="1554480"/>
            <a:ext cx="260215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2274" y="17373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NAME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562274" y="2057400"/>
            <a:ext cx="22363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gradwell-cdr-downloader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0148" y="1554480"/>
            <a:ext cx="260215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93028" y="17373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393028" y="2057400"/>
            <a:ext cx="22363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SAM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040901" y="1554480"/>
            <a:ext cx="260215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23781" y="17373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9223781" y="2057400"/>
            <a:ext cx="22363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nodejs22.x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260215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3375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657600"/>
            <a:ext cx="22363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2048 MB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379394" y="3154680"/>
            <a:ext cx="260215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62274" y="33375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562274" y="3657600"/>
            <a:ext cx="22363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180s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210148" y="3154680"/>
            <a:ext cx="260215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93028" y="33375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393028" y="3657600"/>
            <a:ext cx="22363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 UK, 1st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040901" y="3154680"/>
            <a:ext cx="260215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23781" y="33375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9223781" y="3657600"/>
            <a:ext cx="22363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x86_64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gaps &amp; what's 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DFF4E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5564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3000" y="16459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write permission scoped to cdr/* and debug/* prefixes only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457200" cy="457200"/>
          </a:xfrm>
          <a:prstGeom prst="ellipse">
            <a:avLst/>
          </a:prstGeom>
          <a:solidFill>
            <a:srgbClr val="DFF4E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53288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24231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alarm on Errors; logs kept 400 days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3200400"/>
            <a:ext cx="457200" cy="457200"/>
          </a:xfrm>
          <a:prstGeom prst="ellipse">
            <a:avLst/>
          </a:prstGeom>
          <a:solidFill>
            <a:srgbClr val="DFF4E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310128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43000" y="320040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Coded errors with screenshots; 1st-of-month freshness check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6446520" y="1280160"/>
            <a:ext cx="5196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C6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446520" y="1645920"/>
            <a:ext cx="457200" cy="45720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1755648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040880" y="1645920"/>
            <a:ext cx="4602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CDR-E06: the automation must select a customer first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446520" y="2423160"/>
            <a:ext cx="457200" cy="45720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248" y="253288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040880" y="2423160"/>
            <a:ext cx="4602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secret rotation; logs use AWS-managed keys, not KMS</a:t>
            </a:r>
            <a:endParaRPr lang="en-US" sz="1250" dirty="0"/>
          </a:p>
        </p:txBody>
      </p:sp>
      <p:sp>
        <p:nvSpPr>
          <p:cNvPr id="20" name="Shape 13"/>
          <p:cNvSpPr/>
          <p:nvPr/>
        </p:nvSpPr>
        <p:spPr>
          <a:xfrm>
            <a:off x="6446520" y="3200400"/>
            <a:ext cx="457200" cy="45720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6248" y="3310128"/>
            <a:ext cx="237744" cy="23774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040880" y="3200400"/>
            <a:ext cx="4602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DatadogForwarderTopicArn needs a Forwarder topic in eu-west-2</a:t>
            </a:r>
            <a:endParaRPr lang="en-US" sz="1250" dirty="0"/>
          </a:p>
        </p:txBody>
      </p:sp>
      <p:sp>
        <p:nvSpPr>
          <p:cNvPr id="23" name="Text 1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24" name="Text 1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history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74520"/>
            <a:ext cx="1051560" cy="594360"/>
          </a:xfrm>
          <a:prstGeom prst="roundRect">
            <a:avLst>
              <a:gd name="adj" fmla="val 9231"/>
            </a:avLst>
          </a:prstGeom>
          <a:solidFill>
            <a:srgbClr val="3E546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v1.3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54480"/>
            <a:ext cx="91741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v1.0–1.3: Lambda + Node.js build, Errors alarm, freshness check, S3 scoping, run timing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971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291840"/>
            <a:ext cx="1051560" cy="594360"/>
          </a:xfrm>
          <a:prstGeom prst="roundRect">
            <a:avLst>
              <a:gd name="adj" fmla="val 9231"/>
            </a:avLst>
          </a:prstGeom>
          <a:solidFill>
            <a:srgbClr val="3E54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29184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v1.6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971800"/>
            <a:ext cx="91741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v1.4–1.6: EventBridge Scheduler at 09:00 UK, optional Datadog, direct page navigation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438912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709160"/>
            <a:ext cx="1051560" cy="594360"/>
          </a:xfrm>
          <a:prstGeom prst="roundRect">
            <a:avLst>
              <a:gd name="adj" fmla="val 9231"/>
            </a:avLst>
          </a:prstGeom>
          <a:solidFill>
            <a:srgbClr val="3E54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70916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v1.8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194560" y="4389120"/>
            <a:ext cx="91741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v1.7–1.8: coded errors with screenshots, logs kept 400 days, CDR_URL (/cdrs)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97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 portal_login_automation_for_sdr_download  ·  Branch: claude/friendly-mendel-dx2yrv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1828800"/>
            <a:ext cx="914400" cy="914400"/>
          </a:xfrm>
          <a:prstGeom prst="ellipse">
            <a:avLst/>
          </a:prstGeom>
          <a:solidFill>
            <a:srgbClr val="1B252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8104" y="2048256"/>
            <a:ext cx="475488" cy="47548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01752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automated. Fully monitored.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0" y="38862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— owenid/portal_login_automation_for_sdr_download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2026-09-18T11:10:31Z</dcterms:created>
  <dcterms:modified xsi:type="dcterms:W3CDTF">2026-09-18T11:10:31Z</dcterms:modified>
</cp:coreProperties>
</file>