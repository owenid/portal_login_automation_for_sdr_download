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4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38648" y="1234440"/>
            <a:ext cx="914400" cy="914400"/>
          </a:xfrm>
          <a:prstGeom prst="ellipse">
            <a:avLst/>
          </a:prstGeom>
          <a:solidFill>
            <a:srgbClr val="1B2529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8104" y="1453896"/>
            <a:ext cx="475488" cy="47548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251460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3FE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SOLUTION WALKTHROUGH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0" y="2880360"/>
            <a:ext cx="121916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E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Gradwell CDR Pipeline</a:t>
            </a:r>
            <a:endParaRPr lang="en-US" sz="4600" dirty="0"/>
          </a:p>
        </p:txBody>
      </p:sp>
      <p:sp>
        <p:nvSpPr>
          <p:cNvPr id="6" name="Text 3"/>
          <p:cNvSpPr txBox="1"/>
          <p:nvPr/>
        </p:nvSpPr>
        <p:spPr>
          <a:xfrm>
            <a:off x="1371600" y="3886200"/>
            <a:ext cx="94484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AB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automated monthly SDR / CDR download works, end to end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0" y="60350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B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Architecture: Owen Idehen   ·   gradwell-cdr-downloader   ·   eu-west-2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covers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3484778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E1DF"/>
            </a:solidFill>
            <a:prstDash val="solid"/>
          </a:ln>
          <a:effectLst>
            <a:outerShdw sx="100000" sy="100000" kx="0" ky="0" algn="bl" rotWithShape="0" blurRad="76200" dist="25400" dir="5400000">
              <a:srgbClr val="1B2A2E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874520"/>
            <a:ext cx="548640" cy="548640"/>
          </a:xfrm>
          <a:prstGeom prst="ellipse">
            <a:avLst/>
          </a:prstGeom>
          <a:solidFill>
            <a:srgbClr val="E8ECE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200619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560320"/>
            <a:ext cx="2936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automate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926080"/>
            <a:ext cx="2936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manual process this replaces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353458" y="1600200"/>
            <a:ext cx="3484778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E1DF"/>
            </a:solidFill>
            <a:prstDash val="solid"/>
          </a:ln>
          <a:effectLst>
            <a:outerShdw sx="100000" sy="100000" kx="0" ky="0" algn="bl" rotWithShape="0" blurRad="76200" dist="25400" dir="5400000">
              <a:srgbClr val="1B2A2E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627778" y="1874520"/>
            <a:ext cx="548640" cy="548640"/>
          </a:xfrm>
          <a:prstGeom prst="ellipse">
            <a:avLst/>
          </a:prstGeom>
          <a:solidFill>
            <a:srgbClr val="E8ECE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9452" y="200619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27778" y="2560320"/>
            <a:ext cx="2936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4627778" y="2926080"/>
            <a:ext cx="2936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Trigger, auth, navigate, download, store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8158277" y="1600200"/>
            <a:ext cx="3484778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E1DF"/>
            </a:solidFill>
            <a:prstDash val="solid"/>
          </a:ln>
          <a:effectLst>
            <a:outerShdw sx="100000" sy="100000" kx="0" ky="0" algn="bl" rotWithShape="0" blurRad="76200" dist="25400" dir="5400000">
              <a:srgbClr val="1B2A2E">
                <a:alpha val="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432597" y="1874520"/>
            <a:ext cx="548640" cy="548640"/>
          </a:xfrm>
          <a:prstGeom prst="ellipse">
            <a:avLst/>
          </a:prstGeom>
          <a:solidFill>
            <a:srgbClr val="E8ECE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4270" y="2006194"/>
            <a:ext cx="285293" cy="285293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32597" y="2560320"/>
            <a:ext cx="2936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8432597" y="2926080"/>
            <a:ext cx="2936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Credentials, IAM scope, encryption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548640" y="3840480"/>
            <a:ext cx="3484778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E1DF"/>
            </a:solidFill>
            <a:prstDash val="solid"/>
          </a:ln>
          <a:effectLst>
            <a:outerShdw sx="100000" sy="100000" kx="0" ky="0" algn="bl" rotWithShape="0" blurRad="76200" dist="25400" dir="5400000">
              <a:srgbClr val="1B2A2E">
                <a:alpha val="8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822960" y="4114800"/>
            <a:ext cx="548640" cy="548640"/>
          </a:xfrm>
          <a:prstGeom prst="ellipse">
            <a:avLst/>
          </a:prstGeom>
          <a:solidFill>
            <a:srgbClr val="E8ECEF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634" y="4246474"/>
            <a:ext cx="285293" cy="285293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22960" y="4800600"/>
            <a:ext cx="2936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822960" y="5166360"/>
            <a:ext cx="2936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CloudWatch alarm and Datadog alerting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4353458" y="3840480"/>
            <a:ext cx="3484778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E1DF"/>
            </a:solidFill>
            <a:prstDash val="solid"/>
          </a:ln>
          <a:effectLst>
            <a:outerShdw sx="100000" sy="100000" kx="0" ky="0" algn="bl" rotWithShape="0" blurRad="76200" dist="25400" dir="5400000">
              <a:srgbClr val="1B2A2E">
                <a:alpha val="8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4627778" y="4114800"/>
            <a:ext cx="548640" cy="548640"/>
          </a:xfrm>
          <a:prstGeom prst="ellipse">
            <a:avLst/>
          </a:prstGeom>
          <a:solidFill>
            <a:srgbClr val="E8ECEF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9452" y="424647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627778" y="4800600"/>
            <a:ext cx="2936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gaps</a:t>
            </a:r>
            <a:endParaRPr lang="en-US" sz="1600" dirty="0"/>
          </a:p>
        </p:txBody>
      </p:sp>
      <p:sp>
        <p:nvSpPr>
          <p:cNvPr id="27" name="Text 20"/>
          <p:cNvSpPr txBox="1"/>
          <p:nvPr/>
        </p:nvSpPr>
        <p:spPr>
          <a:xfrm>
            <a:off x="4627778" y="5166360"/>
            <a:ext cx="2936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not covered yet</a:t>
            </a:r>
            <a:endParaRPr lang="en-US" sz="1150" dirty="0"/>
          </a:p>
        </p:txBody>
      </p:sp>
      <p:sp>
        <p:nvSpPr>
          <p:cNvPr id="28" name="Shape 21"/>
          <p:cNvSpPr/>
          <p:nvPr/>
        </p:nvSpPr>
        <p:spPr>
          <a:xfrm>
            <a:off x="8158277" y="3840480"/>
            <a:ext cx="3484778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E1DF"/>
            </a:solidFill>
            <a:prstDash val="solid"/>
          </a:ln>
          <a:effectLst>
            <a:outerShdw sx="100000" sy="100000" kx="0" ky="0" algn="bl" rotWithShape="0" blurRad="76200" dist="25400" dir="5400000">
              <a:srgbClr val="1B2A2E">
                <a:alpha val="8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8432597" y="4114800"/>
            <a:ext cx="548640" cy="548640"/>
          </a:xfrm>
          <a:prstGeom prst="ellipse">
            <a:avLst/>
          </a:prstGeom>
          <a:solidFill>
            <a:srgbClr val="E8ECEF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64270" y="4246474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432597" y="4800600"/>
            <a:ext cx="2936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history</a:t>
            </a:r>
            <a:endParaRPr lang="en-US" sz="1600" dirty="0"/>
          </a:p>
        </p:txBody>
      </p:sp>
      <p:sp>
        <p:nvSpPr>
          <p:cNvPr id="32" name="Text 24"/>
          <p:cNvSpPr txBox="1"/>
          <p:nvPr/>
        </p:nvSpPr>
        <p:spPr>
          <a:xfrm>
            <a:off x="8432597" y="5166360"/>
            <a:ext cx="2936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design evolved</a:t>
            </a:r>
            <a:endParaRPr lang="en-US" sz="1150" dirty="0"/>
          </a:p>
        </p:txBody>
      </p:sp>
      <p:sp>
        <p:nvSpPr>
          <p:cNvPr id="33" name="Text 25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Gradwell CDR Pipeline</a:t>
            </a:r>
            <a:endParaRPr lang="en-US" sz="1000" dirty="0"/>
          </a:p>
        </p:txBody>
      </p:sp>
      <p:sp>
        <p:nvSpPr>
          <p:cNvPr id="34" name="Text 26"/>
          <p:cNvSpPr txBox="1"/>
          <p:nvPr/>
        </p:nvSpPr>
        <p:spPr>
          <a:xfrm>
            <a:off x="11094415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needed automating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37360"/>
            <a:ext cx="64008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1600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person logs in, clicks through Admin → SDR, and downloads one CSV — every single month</a:t>
            </a:r>
            <a:endParaRPr lang="en-US" sz="16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1600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to forget, run late, or grab the wrong billing period</a:t>
            </a:r>
            <a:endParaRPr lang="en-US" sz="16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1600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record of whether it happened this month, or why it failed if it didn't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589520" y="1737360"/>
            <a:ext cx="4053535" cy="3840480"/>
          </a:xfrm>
          <a:prstGeom prst="roundRect">
            <a:avLst>
              <a:gd name="adj" fmla="val 2381"/>
            </a:avLst>
          </a:prstGeom>
          <a:solidFill>
            <a:srgbClr val="152227"/>
          </a:solidFill>
          <a:ln/>
        </p:spPr>
      </p:sp>
      <p:sp>
        <p:nvSpPr>
          <p:cNvPr id="5" name="Shape 3"/>
          <p:cNvSpPr/>
          <p:nvPr/>
        </p:nvSpPr>
        <p:spPr>
          <a:xfrm>
            <a:off x="9159088" y="2194560"/>
            <a:ext cx="914400" cy="914400"/>
          </a:xfrm>
          <a:prstGeom prst="ellipse">
            <a:avLst/>
          </a:prstGeom>
          <a:solidFill>
            <a:srgbClr val="24333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8544" y="2414016"/>
            <a:ext cx="475488" cy="47548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589520" y="3291840"/>
            <a:ext cx="4053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1× / month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7863840" y="3977640"/>
            <a:ext cx="3504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B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task, indefinitely — until it isn't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Gradwell CDR Pipeline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1094415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at a glance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scheduled AWS Lambda replaces the manual process — logging in, navigating, downloading, and storing the file automatically.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2567864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5E1DF"/>
            </a:solidFill>
            <a:prstDash val="solid"/>
          </a:ln>
          <a:effectLst>
            <a:outerShdw sx="100000" sy="100000" kx="0" ky="0" algn="bl" rotWithShape="0" blurRad="76200" dist="25400" dir="5400000">
              <a:srgbClr val="1B2A2E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2331720"/>
            <a:ext cx="2567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9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291840"/>
            <a:ext cx="22021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steps required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90824" y="2057400"/>
            <a:ext cx="2567864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5E1DF"/>
            </a:solidFill>
            <a:prstDash val="solid"/>
          </a:ln>
          <a:effectLst>
            <a:outerShdw sx="100000" sy="100000" kx="0" ky="0" algn="bl" rotWithShape="0" blurRad="76200" dist="25400" dir="5400000">
              <a:srgbClr val="1B2A2E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390824" y="2331720"/>
            <a:ext cx="2567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9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03:00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573704" y="3291840"/>
            <a:ext cx="22021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UTC, on the 1st of every month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33008" y="2057400"/>
            <a:ext cx="2567864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5E1DF"/>
            </a:solidFill>
            <a:prstDash val="solid"/>
          </a:ln>
          <a:effectLst>
            <a:outerShdw sx="100000" sy="100000" kx="0" ky="0" algn="bl" rotWithShape="0" blurRad="76200" dist="25400" dir="5400000">
              <a:srgbClr val="1B2A2E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233008" y="2331720"/>
            <a:ext cx="2567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9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180s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6415888" y="3291840"/>
            <a:ext cx="22021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runtime per invocation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75191" y="2057400"/>
            <a:ext cx="2567864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5E1DF"/>
            </a:solidFill>
            <a:prstDash val="solid"/>
          </a:ln>
          <a:effectLst>
            <a:outerShdw sx="100000" sy="100000" kx="0" ky="0" algn="bl" rotWithShape="0" blurRad="76200" dist="25400" dir="5400000">
              <a:srgbClr val="1B2A2E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9075191" y="2331720"/>
            <a:ext cx="2567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9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9258071" y="3291840"/>
            <a:ext cx="22021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pages visited: SSO → Admin → SDR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7091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AWS SAM (CloudFormation) — Lambda, S3, Secrets Manager, EventBridge, and CloudWatch, entirely serverless.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Gradwell CDR Pipeline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1094415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fits together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170432"/>
            <a:ext cx="146304" cy="146304"/>
          </a:xfrm>
          <a:prstGeom prst="rect">
            <a:avLst/>
          </a:prstGeom>
          <a:solidFill>
            <a:srgbClr val="3E546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68096" y="1078992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AWS-owned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3474720" y="1170432"/>
            <a:ext cx="146304" cy="146304"/>
          </a:xfrm>
          <a:prstGeom prst="rect">
            <a:avLst/>
          </a:prstGeom>
          <a:solidFill>
            <a:srgbClr val="0E9C8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694176" y="1078992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· Gradwell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400800" y="1170432"/>
            <a:ext cx="146304" cy="146304"/>
          </a:xfrm>
          <a:prstGeom prst="rect">
            <a:avLst/>
          </a:prstGeom>
          <a:solidFill>
            <a:srgbClr val="9C6B1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20256" y="1078992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boundary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788920" y="2331720"/>
            <a:ext cx="3200400" cy="2148840"/>
          </a:xfrm>
          <a:prstGeom prst="roundRect">
            <a:avLst>
              <a:gd name="adj" fmla="val 3404"/>
            </a:avLst>
          </a:prstGeom>
          <a:ln w="15875">
            <a:solidFill>
              <a:srgbClr val="9C6B18"/>
            </a:solidFill>
            <a:prstDash val="dash"/>
          </a:ln>
        </p:spPr>
      </p:sp>
      <p:sp>
        <p:nvSpPr>
          <p:cNvPr id="10" name="Text 8"/>
          <p:cNvSpPr txBox="1"/>
          <p:nvPr/>
        </p:nvSpPr>
        <p:spPr>
          <a:xfrm>
            <a:off x="2788920" y="2121408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C6B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ROLE · LEAST PRIVILEGE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2880360"/>
            <a:ext cx="1965960" cy="1051560"/>
          </a:xfrm>
          <a:prstGeom prst="roundRect">
            <a:avLst>
              <a:gd name="adj" fmla="val 6957"/>
            </a:avLst>
          </a:prstGeom>
          <a:solidFill>
            <a:srgbClr val="E8ECEF"/>
          </a:solidFill>
          <a:ln w="15875">
            <a:solidFill>
              <a:srgbClr val="3E54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2971800"/>
            <a:ext cx="17465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52227"/>
                </a:solidFill>
              </a:rPr>
              <a:t>Amazon EventBridge
</a:t>
            </a:r>
            <a:endParaRPr lang="en-US" sz="125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E6167"/>
                </a:solidFill>
              </a:rPr>
              <a:t>Schedule rule
</a:t>
            </a:r>
            <a:endParaRPr lang="en-US" sz="12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E6167"/>
                </a:solidFill>
              </a:rPr>
              <a:t>cron(0 3 1 * ? *)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2514600" y="3401568"/>
            <a:ext cx="411480" cy="9144"/>
          </a:xfrm>
          <a:prstGeom prst="line">
            <a:avLst/>
          </a:prstGeom>
          <a:noFill/>
          <a:ln w="19050">
            <a:solidFill>
              <a:srgbClr val="3E5468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2560320" y="312724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017520" y="2514600"/>
            <a:ext cx="2743200" cy="1783080"/>
          </a:xfrm>
          <a:prstGeom prst="roundRect">
            <a:avLst>
              <a:gd name="adj" fmla="val 4103"/>
            </a:avLst>
          </a:prstGeom>
          <a:solidFill>
            <a:srgbClr val="E8ECEF"/>
          </a:solidFill>
          <a:ln w="15875">
            <a:solidFill>
              <a:srgbClr val="3E54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127248" y="2606040"/>
            <a:ext cx="252374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52227"/>
                </a:solidFill>
              </a:rPr>
              <a:t>AWS Lambda
</a:t>
            </a:r>
            <a:endParaRPr lang="en-US" sz="135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E6167"/>
                </a:solidFill>
              </a:rPr>
              <a:t>CdrDownloaderFunction
</a:t>
            </a:r>
            <a:endParaRPr lang="en-US" sz="135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E6167"/>
                </a:solidFill>
              </a:rPr>
              <a:t>Node.js 22 · x86_64
</a:t>
            </a:r>
            <a:endParaRPr lang="en-US" sz="135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E6167"/>
                </a:solidFill>
              </a:rPr>
              <a:t>Playwright + Chromium
</a:t>
            </a:r>
            <a:endParaRPr lang="en-US" sz="135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E6167"/>
                </a:solidFill>
              </a:rPr>
              <a:t>2048 MB · 180s timeout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9052560" y="502920"/>
            <a:ext cx="2606040" cy="960120"/>
          </a:xfrm>
          <a:prstGeom prst="roundRect">
            <a:avLst>
              <a:gd name="adj" fmla="val 7619"/>
            </a:avLst>
          </a:prstGeom>
          <a:solidFill>
            <a:srgbClr val="F6EAD3"/>
          </a:solidFill>
          <a:ln w="15875">
            <a:solidFill>
              <a:srgbClr val="9C6B1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62288" y="576072"/>
            <a:ext cx="238658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52227"/>
                </a:solidFill>
              </a:rPr>
              <a:t>AWS Secrets Manager
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E6167"/>
                </a:solidFill>
              </a:rPr>
              <a:t>prod/AdminPortal/Gradwell
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E6167"/>
                </a:solidFill>
              </a:rPr>
              <a:t>username + password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 flipV="1">
            <a:off x="5760720" y="960120"/>
            <a:ext cx="3246120" cy="1691640"/>
          </a:xfrm>
          <a:prstGeom prst="line">
            <a:avLst/>
          </a:prstGeom>
          <a:noFill/>
          <a:ln w="19050">
            <a:solidFill>
              <a:srgbClr val="9C6B18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6446520" y="160020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6B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GetSecretValue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9052560" y="1691640"/>
            <a:ext cx="2606040" cy="3383280"/>
          </a:xfrm>
          <a:prstGeom prst="roundRect">
            <a:avLst>
              <a:gd name="adj" fmla="val 3509"/>
            </a:avLst>
          </a:prstGeom>
          <a:solidFill>
            <a:srgbClr val="DFF4EF"/>
          </a:solidFill>
          <a:ln w="15875">
            <a:solidFill>
              <a:srgbClr val="0E9C87"/>
            </a:solidFill>
            <a:prstDash val="dash"/>
          </a:ln>
        </p:spPr>
      </p:sp>
      <p:sp>
        <p:nvSpPr>
          <p:cNvPr id="22" name="Text 20"/>
          <p:cNvSpPr txBox="1"/>
          <p:nvPr/>
        </p:nvSpPr>
        <p:spPr>
          <a:xfrm>
            <a:off x="9052560" y="1783080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E9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· THIRD PARTY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9189720" y="2103120"/>
            <a:ext cx="23317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0E9C8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262872" y="2157984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52227"/>
                </a:solidFill>
              </a:rPr>
              <a:t>SSO login
</a:t>
            </a:r>
            <a:endParaRPr lang="en-US" sz="105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4E6167"/>
                </a:solidFill>
              </a:rPr>
              <a:t>sso.prod.gradwell.com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10355580" y="2670048"/>
            <a:ext cx="9144" cy="73152"/>
          </a:xfrm>
          <a:prstGeom prst="line">
            <a:avLst/>
          </a:prstGeom>
          <a:noFill/>
          <a:ln w="19050">
            <a:solidFill>
              <a:srgbClr val="0E9C87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9189720" y="2743200"/>
            <a:ext cx="23317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0E9C87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62872" y="2798064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52227"/>
                </a:solidFill>
              </a:rPr>
              <a:t>Admin home
</a:t>
            </a:r>
            <a:endParaRPr lang="en-US" sz="105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4E6167"/>
                </a:solidFill>
              </a:rPr>
              <a:t>admin.prod.gradwell.com/home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10355580" y="3310128"/>
            <a:ext cx="9144" cy="73152"/>
          </a:xfrm>
          <a:prstGeom prst="line">
            <a:avLst/>
          </a:prstGeom>
          <a:noFill/>
          <a:ln w="19050">
            <a:solidFill>
              <a:srgbClr val="0E9C87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9189720" y="3383280"/>
            <a:ext cx="233172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0E9C87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262872" y="3438144"/>
            <a:ext cx="218541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52227"/>
                </a:solidFill>
              </a:rPr>
              <a:t>SDR list → verify + download
</a:t>
            </a:r>
            <a:endParaRPr lang="en-US" sz="105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4E6167"/>
                </a:solidFill>
              </a:rPr>
              <a:t>admin.prod.gradwell.com/sdrs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9144000" y="4315968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C6B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 of month only: not yet published → throws (see CloudWatch)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 flipV="1">
            <a:off x="5760720" y="2926080"/>
            <a:ext cx="3246120" cy="320040"/>
          </a:xfrm>
          <a:prstGeom prst="line">
            <a:avLst/>
          </a:prstGeom>
          <a:noFill/>
          <a:ln w="19050">
            <a:solidFill>
              <a:srgbClr val="0E9C87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5943600" y="278892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E9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browser automation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9052560" y="5166360"/>
            <a:ext cx="2606040" cy="1051560"/>
          </a:xfrm>
          <a:prstGeom prst="roundRect">
            <a:avLst>
              <a:gd name="adj" fmla="val 6957"/>
            </a:avLst>
          </a:prstGeom>
          <a:solidFill>
            <a:srgbClr val="E8ECEF"/>
          </a:solidFill>
          <a:ln w="15875">
            <a:solidFill>
              <a:srgbClr val="3E54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162288" y="5257800"/>
            <a:ext cx="23865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52227"/>
                </a:solidFill>
              </a:rPr>
              <a:t>Amazon S3
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E6167"/>
                </a:solidFill>
              </a:rPr>
              <a:t>cdr/&lt;year&gt;/&lt;month&gt;/…
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E6167"/>
                </a:solidFill>
              </a:rPr>
              <a:t>private · SSE-AES256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5760720" y="3931920"/>
            <a:ext cx="3246120" cy="1645920"/>
          </a:xfrm>
          <a:prstGeom prst="line">
            <a:avLst/>
          </a:prstGeom>
          <a:noFill/>
          <a:ln w="19050">
            <a:solidFill>
              <a:srgbClr val="3E5468"/>
            </a:solidFill>
            <a:prstDash val="solid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6446520" y="470916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E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PutObject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017520" y="516636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5875">
            <a:solidFill>
              <a:srgbClr val="D5E1D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3127248" y="5239512"/>
            <a:ext cx="2523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E6167"/>
                </a:solidFill>
              </a:rPr>
              <a:t>CloudWatch Logs
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E6167"/>
                </a:solidFill>
              </a:rPr>
              <a:t>execution + error traces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4389120" y="4297680"/>
            <a:ext cx="9144" cy="822960"/>
          </a:xfrm>
          <a:prstGeom prst="line">
            <a:avLst/>
          </a:prstGeom>
          <a:noFill/>
          <a:ln w="19050">
            <a:solidFill>
              <a:srgbClr val="D5E1DF"/>
            </a:solidFill>
            <a:prstDash val="solid"/>
            <a:tailEnd type="triangle"/>
          </a:ln>
        </p:spPr>
      </p:sp>
      <p:sp>
        <p:nvSpPr>
          <p:cNvPr id="41" name="Text 39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Gradwell CDR Pipeline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11094415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invocation, six steps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473175" y="3429000"/>
            <a:ext cx="9245346" cy="0"/>
          </a:xfrm>
          <a:prstGeom prst="line">
            <a:avLst/>
          </a:prstGeom>
          <a:noFill/>
          <a:ln w="25400">
            <a:solidFill>
              <a:srgbClr val="D5E1D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43407" y="2999232"/>
            <a:ext cx="859536" cy="859536"/>
          </a:xfrm>
          <a:prstGeom prst="ellipse">
            <a:avLst/>
          </a:prstGeom>
          <a:solidFill>
            <a:srgbClr val="F4F7F6"/>
          </a:solidFill>
          <a:ln/>
        </p:spPr>
      </p:sp>
      <p:sp>
        <p:nvSpPr>
          <p:cNvPr id="5" name="Shape 3"/>
          <p:cNvSpPr/>
          <p:nvPr/>
        </p:nvSpPr>
        <p:spPr>
          <a:xfrm>
            <a:off x="1061695" y="3017520"/>
            <a:ext cx="822960" cy="822960"/>
          </a:xfrm>
          <a:prstGeom prst="ellipse">
            <a:avLst/>
          </a:prstGeom>
          <a:solidFill>
            <a:srgbClr val="E8ECE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9205" y="3215030"/>
            <a:ext cx="427939" cy="42793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610335" y="2944368"/>
            <a:ext cx="310896" cy="310896"/>
          </a:xfrm>
          <a:prstGeom prst="ellipse">
            <a:avLst/>
          </a:prstGeom>
          <a:solidFill>
            <a:srgbClr val="152227"/>
          </a:solidFill>
          <a:ln w="19050">
            <a:solidFill>
              <a:srgbClr val="F4F7F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610335" y="2944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4005072"/>
            <a:ext cx="184906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621792" y="4343400"/>
            <a:ext cx="170276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EventBridge fires on schedule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892476" y="2999232"/>
            <a:ext cx="859536" cy="859536"/>
          </a:xfrm>
          <a:prstGeom prst="ellipse">
            <a:avLst/>
          </a:prstGeom>
          <a:solidFill>
            <a:srgbClr val="F4F7F6"/>
          </a:solidFill>
          <a:ln/>
        </p:spPr>
      </p:sp>
      <p:sp>
        <p:nvSpPr>
          <p:cNvPr id="12" name="Shape 9"/>
          <p:cNvSpPr/>
          <p:nvPr/>
        </p:nvSpPr>
        <p:spPr>
          <a:xfrm>
            <a:off x="2910764" y="3017520"/>
            <a:ext cx="822960" cy="822960"/>
          </a:xfrm>
          <a:prstGeom prst="ellipse">
            <a:avLst/>
          </a:prstGeom>
          <a:solidFill>
            <a:srgbClr val="E8ECE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274" y="3215030"/>
            <a:ext cx="427939" cy="427939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3459404" y="2944368"/>
            <a:ext cx="310896" cy="310896"/>
          </a:xfrm>
          <a:prstGeom prst="ellipse">
            <a:avLst/>
          </a:prstGeom>
          <a:solidFill>
            <a:srgbClr val="152227"/>
          </a:solidFill>
          <a:ln w="19050">
            <a:solidFill>
              <a:srgbClr val="F4F7F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459404" y="2944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2397709" y="4005072"/>
            <a:ext cx="184906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</a:t>
            </a:r>
            <a:endParaRPr lang="en-US" sz="1350" dirty="0"/>
          </a:p>
        </p:txBody>
      </p:sp>
      <p:sp>
        <p:nvSpPr>
          <p:cNvPr id="17" name="Text 13"/>
          <p:cNvSpPr txBox="1"/>
          <p:nvPr/>
        </p:nvSpPr>
        <p:spPr>
          <a:xfrm>
            <a:off x="2470861" y="4343400"/>
            <a:ext cx="170276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credentials, log into SSO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4741545" y="2999232"/>
            <a:ext cx="859536" cy="859536"/>
          </a:xfrm>
          <a:prstGeom prst="ellipse">
            <a:avLst/>
          </a:prstGeom>
          <a:solidFill>
            <a:srgbClr val="F4F7F6"/>
          </a:solidFill>
          <a:ln/>
        </p:spPr>
      </p:sp>
      <p:sp>
        <p:nvSpPr>
          <p:cNvPr id="19" name="Shape 15"/>
          <p:cNvSpPr/>
          <p:nvPr/>
        </p:nvSpPr>
        <p:spPr>
          <a:xfrm>
            <a:off x="4759833" y="3017520"/>
            <a:ext cx="822960" cy="822960"/>
          </a:xfrm>
          <a:prstGeom prst="ellipse">
            <a:avLst/>
          </a:prstGeom>
          <a:solidFill>
            <a:srgbClr val="E8ECEF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7343" y="3215030"/>
            <a:ext cx="427939" cy="427939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5308473" y="2944368"/>
            <a:ext cx="310896" cy="310896"/>
          </a:xfrm>
          <a:prstGeom prst="ellipse">
            <a:avLst/>
          </a:prstGeom>
          <a:solidFill>
            <a:srgbClr val="152227"/>
          </a:solidFill>
          <a:ln w="19050">
            <a:solidFill>
              <a:srgbClr val="F4F7F6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5308473" y="2944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4246778" y="4005072"/>
            <a:ext cx="184906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</a:t>
            </a:r>
            <a:endParaRPr lang="en-US" sz="1350" dirty="0"/>
          </a:p>
        </p:txBody>
      </p:sp>
      <p:sp>
        <p:nvSpPr>
          <p:cNvPr id="24" name="Text 19"/>
          <p:cNvSpPr txBox="1"/>
          <p:nvPr/>
        </p:nvSpPr>
        <p:spPr>
          <a:xfrm>
            <a:off x="4319930" y="4343400"/>
            <a:ext cx="170276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→ SDR list</a:t>
            </a:r>
            <a:endParaRPr lang="en-US" sz="1000" dirty="0"/>
          </a:p>
        </p:txBody>
      </p:sp>
      <p:sp>
        <p:nvSpPr>
          <p:cNvPr id="25" name="Shape 20"/>
          <p:cNvSpPr/>
          <p:nvPr/>
        </p:nvSpPr>
        <p:spPr>
          <a:xfrm>
            <a:off x="6590614" y="2999232"/>
            <a:ext cx="859536" cy="859536"/>
          </a:xfrm>
          <a:prstGeom prst="ellipse">
            <a:avLst/>
          </a:prstGeom>
          <a:solidFill>
            <a:srgbClr val="F4F7F6"/>
          </a:solidFill>
          <a:ln/>
        </p:spPr>
      </p:sp>
      <p:sp>
        <p:nvSpPr>
          <p:cNvPr id="26" name="Shape 21"/>
          <p:cNvSpPr/>
          <p:nvPr/>
        </p:nvSpPr>
        <p:spPr>
          <a:xfrm>
            <a:off x="6608902" y="3017520"/>
            <a:ext cx="822960" cy="822960"/>
          </a:xfrm>
          <a:prstGeom prst="ellipse">
            <a:avLst/>
          </a:prstGeom>
          <a:solidFill>
            <a:srgbClr val="DFF4EF"/>
          </a:solidFill>
          <a:ln/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6413" y="3215030"/>
            <a:ext cx="427939" cy="427939"/>
          </a:xfrm>
          <a:prstGeom prst="rect">
            <a:avLst/>
          </a:prstGeom>
        </p:spPr>
      </p:pic>
      <p:sp>
        <p:nvSpPr>
          <p:cNvPr id="28" name="Shape 22"/>
          <p:cNvSpPr/>
          <p:nvPr/>
        </p:nvSpPr>
        <p:spPr>
          <a:xfrm>
            <a:off x="7157542" y="2944368"/>
            <a:ext cx="310896" cy="310896"/>
          </a:xfrm>
          <a:prstGeom prst="ellipse">
            <a:avLst/>
          </a:prstGeom>
          <a:solidFill>
            <a:srgbClr val="152227"/>
          </a:solidFill>
          <a:ln w="19050">
            <a:solidFill>
              <a:srgbClr val="F4F7F6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7157542" y="2944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4"/>
          <p:cNvSpPr txBox="1"/>
          <p:nvPr/>
        </p:nvSpPr>
        <p:spPr>
          <a:xfrm>
            <a:off x="6095848" y="4005072"/>
            <a:ext cx="184906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350" dirty="0"/>
          </a:p>
        </p:txBody>
      </p:sp>
      <p:sp>
        <p:nvSpPr>
          <p:cNvPr id="31" name="Text 25"/>
          <p:cNvSpPr txBox="1"/>
          <p:nvPr/>
        </p:nvSpPr>
        <p:spPr>
          <a:xfrm>
            <a:off x="6169000" y="4343400"/>
            <a:ext cx="170276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latest period is published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8439683" y="2999232"/>
            <a:ext cx="859536" cy="859536"/>
          </a:xfrm>
          <a:prstGeom prst="ellipse">
            <a:avLst/>
          </a:prstGeom>
          <a:solidFill>
            <a:srgbClr val="F4F7F6"/>
          </a:solidFill>
          <a:ln/>
        </p:spPr>
      </p:sp>
      <p:sp>
        <p:nvSpPr>
          <p:cNvPr id="33" name="Shape 27"/>
          <p:cNvSpPr/>
          <p:nvPr/>
        </p:nvSpPr>
        <p:spPr>
          <a:xfrm>
            <a:off x="8457971" y="3017520"/>
            <a:ext cx="822960" cy="822960"/>
          </a:xfrm>
          <a:prstGeom prst="ellipse">
            <a:avLst/>
          </a:prstGeom>
          <a:solidFill>
            <a:srgbClr val="E8ECEF"/>
          </a:solidFill>
          <a:ln/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55482" y="3215030"/>
            <a:ext cx="427939" cy="427939"/>
          </a:xfrm>
          <a:prstGeom prst="rect">
            <a:avLst/>
          </a:prstGeom>
        </p:spPr>
      </p:pic>
      <p:sp>
        <p:nvSpPr>
          <p:cNvPr id="35" name="Shape 28"/>
          <p:cNvSpPr/>
          <p:nvPr/>
        </p:nvSpPr>
        <p:spPr>
          <a:xfrm>
            <a:off x="9006611" y="2944368"/>
            <a:ext cx="310896" cy="310896"/>
          </a:xfrm>
          <a:prstGeom prst="ellipse">
            <a:avLst/>
          </a:prstGeom>
          <a:solidFill>
            <a:srgbClr val="152227"/>
          </a:solidFill>
          <a:ln w="19050">
            <a:solidFill>
              <a:srgbClr val="F4F7F6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9006611" y="2944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7" name="Text 30"/>
          <p:cNvSpPr txBox="1"/>
          <p:nvPr/>
        </p:nvSpPr>
        <p:spPr>
          <a:xfrm>
            <a:off x="7944917" y="4005072"/>
            <a:ext cx="184906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</a:t>
            </a:r>
            <a:endParaRPr lang="en-US" sz="1350" dirty="0"/>
          </a:p>
        </p:txBody>
      </p:sp>
      <p:sp>
        <p:nvSpPr>
          <p:cNvPr id="38" name="Text 31"/>
          <p:cNvSpPr txBox="1"/>
          <p:nvPr/>
        </p:nvSpPr>
        <p:spPr>
          <a:xfrm>
            <a:off x="8018069" y="4343400"/>
            <a:ext cx="170276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file, write to S3</a:t>
            </a:r>
            <a:endParaRPr lang="en-US" sz="1000" dirty="0"/>
          </a:p>
        </p:txBody>
      </p:sp>
      <p:sp>
        <p:nvSpPr>
          <p:cNvPr id="39" name="Shape 32"/>
          <p:cNvSpPr/>
          <p:nvPr/>
        </p:nvSpPr>
        <p:spPr>
          <a:xfrm>
            <a:off x="10288753" y="2999232"/>
            <a:ext cx="859536" cy="859536"/>
          </a:xfrm>
          <a:prstGeom prst="ellipse">
            <a:avLst/>
          </a:prstGeom>
          <a:solidFill>
            <a:srgbClr val="F4F7F6"/>
          </a:solidFill>
          <a:ln/>
        </p:spPr>
      </p:sp>
      <p:sp>
        <p:nvSpPr>
          <p:cNvPr id="40" name="Shape 33"/>
          <p:cNvSpPr/>
          <p:nvPr/>
        </p:nvSpPr>
        <p:spPr>
          <a:xfrm>
            <a:off x="10307041" y="3017520"/>
            <a:ext cx="822960" cy="822960"/>
          </a:xfrm>
          <a:prstGeom prst="ellipse">
            <a:avLst/>
          </a:prstGeom>
          <a:solidFill>
            <a:srgbClr val="E8ECEF"/>
          </a:solidFill>
          <a:ln/>
        </p:spPr>
      </p:sp>
      <p:pic>
        <p:nvPicPr>
          <p:cNvPr id="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04551" y="3215030"/>
            <a:ext cx="427939" cy="427939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10855681" y="2944368"/>
            <a:ext cx="310896" cy="310896"/>
          </a:xfrm>
          <a:prstGeom prst="ellipse">
            <a:avLst/>
          </a:prstGeom>
          <a:solidFill>
            <a:srgbClr val="152227"/>
          </a:solidFill>
          <a:ln w="19050">
            <a:solidFill>
              <a:srgbClr val="F4F7F6"/>
            </a:solidFill>
            <a:prstDash val="solid"/>
          </a:ln>
        </p:spPr>
      </p:sp>
      <p:sp>
        <p:nvSpPr>
          <p:cNvPr id="43" name="Text 35"/>
          <p:cNvSpPr txBox="1"/>
          <p:nvPr/>
        </p:nvSpPr>
        <p:spPr>
          <a:xfrm>
            <a:off x="10855681" y="2944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44" name="Text 36"/>
          <p:cNvSpPr txBox="1"/>
          <p:nvPr/>
        </p:nvSpPr>
        <p:spPr>
          <a:xfrm>
            <a:off x="9793986" y="4005072"/>
            <a:ext cx="184906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</a:t>
            </a:r>
            <a:endParaRPr lang="en-US" sz="1350" dirty="0"/>
          </a:p>
        </p:txBody>
      </p:sp>
      <p:sp>
        <p:nvSpPr>
          <p:cNvPr id="45" name="Text 37"/>
          <p:cNvSpPr txBox="1"/>
          <p:nvPr/>
        </p:nvSpPr>
        <p:spPr>
          <a:xfrm>
            <a:off x="9867138" y="4343400"/>
            <a:ext cx="170276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to CloudWatch; alarm to Datadog</a:t>
            </a:r>
            <a:endParaRPr lang="en-US" sz="1000" dirty="0"/>
          </a:p>
        </p:txBody>
      </p:sp>
      <p:sp>
        <p:nvSpPr>
          <p:cNvPr id="46" name="Text 38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Gradwell CDR Pipeline</a:t>
            </a:r>
            <a:endParaRPr lang="en-US" sz="1000" dirty="0"/>
          </a:p>
        </p:txBody>
      </p:sp>
      <p:sp>
        <p:nvSpPr>
          <p:cNvPr id="47" name="Text 39"/>
          <p:cNvSpPr txBox="1"/>
          <p:nvPr/>
        </p:nvSpPr>
        <p:spPr>
          <a:xfrm>
            <a:off x="11094415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Guarding against stale data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70432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9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1st-of-month freshness check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60350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1st of the month, the newest SDR row should cover the period that just completed</a:t>
            </a:r>
            <a:endParaRPr lang="en-US" sz="15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Gradwell hasn't published it yet, downloading anyway would silently store last month's file under this month's key</a:t>
            </a:r>
            <a:endParaRPr lang="en-US" sz="15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Lambda checks this before downloading — and throws instead of guessing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949440" y="1783080"/>
            <a:ext cx="4693615" cy="3977640"/>
          </a:xfrm>
          <a:prstGeom prst="roundRect">
            <a:avLst>
              <a:gd name="adj" fmla="val 2299"/>
            </a:avLst>
          </a:prstGeom>
          <a:solidFill>
            <a:srgbClr val="15222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223760" y="2011680"/>
            <a:ext cx="4144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FE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VERIFYLATESTRECORDISAVAILABLE()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223760" y="2423160"/>
            <a:ext cx="414497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7EE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today ≠ 1st of month: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7EE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→ skip check, proceed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7EE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7EE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newest SDR end-date ≠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7EE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last day of previous month: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7EE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→ throw error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7EE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→ CloudWatch Logs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7EE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→ CdrDownloaderErrorsAlarm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7EE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→ Datadog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7EE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7EE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ELSE: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7EE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→ download latest file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Gradwell CDR Pipeline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1094415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considerations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02920" cy="502920"/>
          </a:xfrm>
          <a:prstGeom prst="ellipse">
            <a:avLst/>
          </a:prstGeom>
          <a:solidFill>
            <a:srgbClr val="F6EAD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9341" y="1538021"/>
            <a:ext cx="261518" cy="26151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34440" y="1371600"/>
            <a:ext cx="46785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 handling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1719072"/>
            <a:ext cx="46785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in code or env vars — fetched from Secrets Manager at runtime, never logged or cached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278728" y="1417320"/>
            <a:ext cx="502920" cy="502920"/>
          </a:xfrm>
          <a:prstGeom prst="ellipse">
            <a:avLst/>
          </a:prstGeom>
          <a:solidFill>
            <a:srgbClr val="F6EAD3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9428" y="1538021"/>
            <a:ext cx="261518" cy="26151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964528" y="1371600"/>
            <a:ext cx="46785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Least-privilege IAM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6964528" y="1719072"/>
            <a:ext cx="46785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write scoped to cdr/* and debug/* only; Secrets access scoped to one secret's ARN pattern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3154680"/>
            <a:ext cx="502920" cy="502920"/>
          </a:xfrm>
          <a:prstGeom prst="ellipse">
            <a:avLst/>
          </a:prstGeom>
          <a:solidFill>
            <a:srgbClr val="F6EAD3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341" y="3275381"/>
            <a:ext cx="261518" cy="26151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234440" y="3108960"/>
            <a:ext cx="46785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hardening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1234440" y="3456432"/>
            <a:ext cx="46785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SSE-AES256 encryption at rest; all public access blocked at the bucket level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6278728" y="3154680"/>
            <a:ext cx="502920" cy="502920"/>
          </a:xfrm>
          <a:prstGeom prst="ellipse">
            <a:avLst/>
          </a:prstGeom>
          <a:solidFill>
            <a:srgbClr val="F6EAD3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9428" y="3275381"/>
            <a:ext cx="261518" cy="261518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964528" y="3108960"/>
            <a:ext cx="46785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security</a:t>
            </a:r>
            <a:endParaRPr lang="en-US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6964528" y="3456432"/>
            <a:ext cx="46785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 — to Gradwell and to AWS services — is HTTPS only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4892040"/>
            <a:ext cx="502920" cy="502920"/>
          </a:xfrm>
          <a:prstGeom prst="ellipse">
            <a:avLst/>
          </a:prstGeom>
          <a:solidFill>
            <a:srgbClr val="F6EAD3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341" y="5012741"/>
            <a:ext cx="261518" cy="261518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234440" y="4846320"/>
            <a:ext cx="46785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inbound surface</a:t>
            </a:r>
            <a:endParaRPr lang="en-US" sz="1400" dirty="0"/>
          </a:p>
        </p:txBody>
      </p:sp>
      <p:sp>
        <p:nvSpPr>
          <p:cNvPr id="22" name="Text 15"/>
          <p:cNvSpPr txBox="1"/>
          <p:nvPr/>
        </p:nvSpPr>
        <p:spPr>
          <a:xfrm>
            <a:off x="1234440" y="5193792"/>
            <a:ext cx="46785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Outbound-only Lambda; no API Gateway, no public endpoint to attack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278728" y="4892040"/>
            <a:ext cx="502920" cy="502920"/>
          </a:xfrm>
          <a:prstGeom prst="ellipse">
            <a:avLst/>
          </a:prstGeom>
          <a:solidFill>
            <a:srgbClr val="F6EAD3"/>
          </a:solidFill>
          <a:ln/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9428" y="5012741"/>
            <a:ext cx="261518" cy="261518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6964528" y="4846320"/>
            <a:ext cx="46785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visibility</a:t>
            </a:r>
            <a:endParaRPr lang="en-US" sz="1400" dirty="0"/>
          </a:p>
        </p:txBody>
      </p:sp>
      <p:sp>
        <p:nvSpPr>
          <p:cNvPr id="26" name="Text 18"/>
          <p:cNvSpPr txBox="1"/>
          <p:nvPr/>
        </p:nvSpPr>
        <p:spPr>
          <a:xfrm>
            <a:off x="6964528" y="5193792"/>
            <a:ext cx="46785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CloudWatch alarm on Errors, forwarded to Datadog — failures don't go silent</a:t>
            </a:r>
            <a:endParaRPr lang="en-US" sz="1100" dirty="0"/>
          </a:p>
        </p:txBody>
      </p:sp>
      <p:sp>
        <p:nvSpPr>
          <p:cNvPr id="27" name="Text 19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Gradwell CDR Pipeline</a:t>
            </a:r>
            <a:endParaRPr lang="en-US" sz="1000" dirty="0"/>
          </a:p>
        </p:txBody>
      </p:sp>
      <p:sp>
        <p:nvSpPr>
          <p:cNvPr id="28" name="Text 20"/>
          <p:cNvSpPr txBox="1"/>
          <p:nvPr/>
        </p:nvSpPr>
        <p:spPr>
          <a:xfrm>
            <a:off x="11094415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&amp; alerting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2011680"/>
            <a:ext cx="2430704" cy="1371600"/>
          </a:xfrm>
          <a:prstGeom prst="roundRect">
            <a:avLst>
              <a:gd name="adj" fmla="val 5333"/>
            </a:avLst>
          </a:prstGeom>
          <a:solidFill>
            <a:srgbClr val="E8ECEF"/>
          </a:solidFill>
          <a:ln w="15875">
            <a:solidFill>
              <a:srgbClr val="3E546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2011680"/>
            <a:ext cx="21563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Errors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2979344" y="2697480"/>
            <a:ext cx="457200" cy="9144"/>
          </a:xfrm>
          <a:prstGeom prst="line">
            <a:avLst/>
          </a:prstGeom>
          <a:noFill/>
          <a:ln w="19050">
            <a:solidFill>
              <a:srgbClr val="4E6167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3436544" y="2011680"/>
            <a:ext cx="2430704" cy="1371600"/>
          </a:xfrm>
          <a:prstGeom prst="roundRect">
            <a:avLst>
              <a:gd name="adj" fmla="val 5333"/>
            </a:avLst>
          </a:prstGeom>
          <a:solidFill>
            <a:srgbClr val="F6EAD3"/>
          </a:solidFill>
          <a:ln w="15875">
            <a:solidFill>
              <a:srgbClr val="9C6B1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73704" y="2011680"/>
            <a:ext cx="21563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CdrDownloader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ErrorsAlarm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867248" y="2697480"/>
            <a:ext cx="457200" cy="9144"/>
          </a:xfrm>
          <a:prstGeom prst="line">
            <a:avLst/>
          </a:prstGeom>
          <a:noFill/>
          <a:ln w="19050">
            <a:solidFill>
              <a:srgbClr val="4E6167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6324448" y="2011680"/>
            <a:ext cx="2430704" cy="1371600"/>
          </a:xfrm>
          <a:prstGeom prst="roundRect">
            <a:avLst>
              <a:gd name="adj" fmla="val 5333"/>
            </a:avLst>
          </a:prstGeom>
          <a:solidFill>
            <a:srgbClr val="E8ECEF"/>
          </a:solidFill>
          <a:ln w="15875">
            <a:solidFill>
              <a:srgbClr val="3E54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61608" y="2011680"/>
            <a:ext cx="21563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 topic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(DatadogForwarderTopicArn)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755151" y="2697480"/>
            <a:ext cx="457200" cy="9144"/>
          </a:xfrm>
          <a:prstGeom prst="line">
            <a:avLst/>
          </a:prstGeom>
          <a:noFill/>
          <a:ln w="19050">
            <a:solidFill>
              <a:srgbClr val="4E6167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9212351" y="2011680"/>
            <a:ext cx="2430704" cy="1371600"/>
          </a:xfrm>
          <a:prstGeom prst="roundRect">
            <a:avLst>
              <a:gd name="adj" fmla="val 5333"/>
            </a:avLst>
          </a:prstGeom>
          <a:solidFill>
            <a:srgbClr val="DFF4EF"/>
          </a:solidFill>
          <a:ln w="15875">
            <a:solidFill>
              <a:srgbClr val="0E9C8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349511" y="2011680"/>
            <a:ext cx="21563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Datadog Forwarder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monitor event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7947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Tuned for a monthly cadence, not continuous traffic: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206240"/>
            <a:ext cx="1109441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1-day evaluation period on the Errors metric — an idle day reads as “no data,” not a failure</a:t>
            </a:r>
            <a:endParaRPr lang="en-US" sz="13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scheduled run day can actually trip the alarm</a:t>
            </a:r>
            <a:endParaRPr lang="en-US" sz="13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1st-of-month ALARM can legitimately mean “Gradwell hasn't published yet,” not just a bug — check the log message first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760720"/>
            <a:ext cx="11094415" cy="594360"/>
          </a:xfrm>
          <a:prstGeom prst="roundRect">
            <a:avLst>
              <a:gd name="adj" fmla="val 9231"/>
            </a:avLst>
          </a:prstGeom>
          <a:solidFill>
            <a:srgbClr val="F6EAD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77240" y="5760720"/>
            <a:ext cx="10637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C6B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alarm and SNS wiring deployed — DatadogForwarderTopicArn still needs the real Forwarder topic ARN before alerts reach Datadog.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Gradwell CDR Pipeline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1094415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facts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2602154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E1D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057400"/>
            <a:ext cx="223639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22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eu-west-2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379394" y="1554480"/>
            <a:ext cx="2602154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E1D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62274" y="1737360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NAME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3562274" y="2057400"/>
            <a:ext cx="223639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22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gradwell-cdr-downloader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10148" y="1554480"/>
            <a:ext cx="2602154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E1D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93028" y="1737360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IAC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6393028" y="2057400"/>
            <a:ext cx="223639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22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 SAM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9040901" y="1554480"/>
            <a:ext cx="2602154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E1D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223781" y="1737360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9223781" y="2057400"/>
            <a:ext cx="223639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22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nodejs22.x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3154680"/>
            <a:ext cx="2602154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E1D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3337560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3657600"/>
            <a:ext cx="223639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22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2048 MB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3379394" y="3154680"/>
            <a:ext cx="2602154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E1D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62274" y="3337560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3562274" y="3657600"/>
            <a:ext cx="223639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22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180s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210148" y="3154680"/>
            <a:ext cx="2602154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E1D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393028" y="3337560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393028" y="3657600"/>
            <a:ext cx="223639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22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3 1 * ? *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9040901" y="3154680"/>
            <a:ext cx="2602154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E1D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223781" y="3337560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9223781" y="3657600"/>
            <a:ext cx="223639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22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x86_64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Gradwell CDR Pipeline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11094415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gaps &amp; what's next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E9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457200" cy="457200"/>
          </a:xfrm>
          <a:prstGeom prst="ellipse">
            <a:avLst/>
          </a:prstGeom>
          <a:solidFill>
            <a:srgbClr val="DFF4E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755648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43000" y="1645920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write permission scoped to cdr/* and debug/* prefixes only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548640" y="2423160"/>
            <a:ext cx="457200" cy="457200"/>
          </a:xfrm>
          <a:prstGeom prst="ellipse">
            <a:avLst/>
          </a:prstGeom>
          <a:solidFill>
            <a:srgbClr val="DFF4EF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532888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143000" y="2423160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CloudWatch alarm on Errors, wired to Datadog Forwarder SNS topic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548640" y="3200400"/>
            <a:ext cx="457200" cy="457200"/>
          </a:xfrm>
          <a:prstGeom prst="ellipse">
            <a:avLst/>
          </a:prstGeom>
          <a:solidFill>
            <a:srgbClr val="DFF4EF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310128"/>
            <a:ext cx="237744" cy="23774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143000" y="3200400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1st-of-month freshness check before downloading</a:t>
            </a:r>
            <a:endParaRPr lang="en-US" sz="1250" dirty="0"/>
          </a:p>
        </p:txBody>
      </p:sp>
      <p:sp>
        <p:nvSpPr>
          <p:cNvPr id="13" name="Text 8"/>
          <p:cNvSpPr txBox="1"/>
          <p:nvPr/>
        </p:nvSpPr>
        <p:spPr>
          <a:xfrm>
            <a:off x="6446520" y="1280160"/>
            <a:ext cx="5196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9C6B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6446520" y="1645920"/>
            <a:ext cx="457200" cy="457200"/>
          </a:xfrm>
          <a:prstGeom prst="ellipse">
            <a:avLst/>
          </a:prstGeom>
          <a:solidFill>
            <a:srgbClr val="F6EAD3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6248" y="1755648"/>
            <a:ext cx="237744" cy="23774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040880" y="1645920"/>
            <a:ext cx="46021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automated secret rotation — credential rotation is manual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6446520" y="2423160"/>
            <a:ext cx="457200" cy="457200"/>
          </a:xfrm>
          <a:prstGeom prst="ellipse">
            <a:avLst/>
          </a:prstGeom>
          <a:solidFill>
            <a:srgbClr val="F6EAD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6248" y="2532888"/>
            <a:ext cx="237744" cy="23774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7040880" y="2423160"/>
            <a:ext cx="46021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CloudWatch Logs use default AWS-managed encryption, not a customer-managed KMS key</a:t>
            </a:r>
            <a:endParaRPr lang="en-US" sz="1250" dirty="0"/>
          </a:p>
        </p:txBody>
      </p:sp>
      <p:sp>
        <p:nvSpPr>
          <p:cNvPr id="20" name="Shape 13"/>
          <p:cNvSpPr/>
          <p:nvPr/>
        </p:nvSpPr>
        <p:spPr>
          <a:xfrm>
            <a:off x="6446520" y="3200400"/>
            <a:ext cx="457200" cy="457200"/>
          </a:xfrm>
          <a:prstGeom prst="ellipse">
            <a:avLst/>
          </a:prstGeom>
          <a:solidFill>
            <a:srgbClr val="F6EAD3"/>
          </a:solidFill>
          <a:ln/>
        </p:spPr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6248" y="3310128"/>
            <a:ext cx="237744" cy="237744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7040880" y="3200400"/>
            <a:ext cx="46021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DatadogForwarderTopicArn still needs the real Forwarder topic ARN</a:t>
            </a:r>
            <a:endParaRPr lang="en-US" sz="1250" dirty="0"/>
          </a:p>
        </p:txBody>
      </p:sp>
      <p:sp>
        <p:nvSpPr>
          <p:cNvPr id="23" name="Text 15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Gradwell CDR Pipeline</a:t>
            </a:r>
            <a:endParaRPr lang="en-US" sz="1000" dirty="0"/>
          </a:p>
        </p:txBody>
      </p:sp>
      <p:sp>
        <p:nvSpPr>
          <p:cNvPr id="24" name="Text 16"/>
          <p:cNvSpPr txBox="1"/>
          <p:nvPr/>
        </p:nvSpPr>
        <p:spPr>
          <a:xfrm>
            <a:off x="11094415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history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5E1D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874520"/>
            <a:ext cx="1051560" cy="594360"/>
          </a:xfrm>
          <a:prstGeom prst="roundRect">
            <a:avLst>
              <a:gd name="adj" fmla="val 9231"/>
            </a:avLst>
          </a:prstGeom>
          <a:solidFill>
            <a:srgbClr val="3E546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1051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v1.0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554480"/>
            <a:ext cx="917417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Lambda + Node.js implementation, deployed and verified end-to-end against the live portal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97180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5E1D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3291840"/>
            <a:ext cx="1051560" cy="594360"/>
          </a:xfrm>
          <a:prstGeom prst="roundRect">
            <a:avLst>
              <a:gd name="adj" fmla="val 9231"/>
            </a:avLst>
          </a:prstGeom>
          <a:solidFill>
            <a:srgbClr val="3E546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3291840"/>
            <a:ext cx="1051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v1.1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2194560" y="2971800"/>
            <a:ext cx="917417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CloudWatch Errors alarm (Datadog alerting) and the 1st-of-month freshness check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48640" y="438912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5E1D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4709160"/>
            <a:ext cx="1051560" cy="594360"/>
          </a:xfrm>
          <a:prstGeom prst="roundRect">
            <a:avLst>
              <a:gd name="adj" fmla="val 9231"/>
            </a:avLst>
          </a:prstGeom>
          <a:solidFill>
            <a:srgbClr val="3E54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4709160"/>
            <a:ext cx="1051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v1.2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194560" y="4389120"/>
            <a:ext cx="917417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5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the S3 write permission from bucket-wide to cdr/* and debug/* prefixes only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8978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Repository: portal_login_automation_for_sdr_download  ·  Branch: claude/friendly-mendel-dx2yrv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Gradwell CDR Pipeline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094415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E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14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38648" y="1828800"/>
            <a:ext cx="914400" cy="914400"/>
          </a:xfrm>
          <a:prstGeom prst="ellipse">
            <a:avLst/>
          </a:prstGeom>
          <a:solidFill>
            <a:srgbClr val="1B2529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8104" y="2048256"/>
            <a:ext cx="475488" cy="47548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3017520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automated. Fully monitored.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0" y="388620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B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welcome — owenid/portal_login_automation_for_sdr_download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2026-09-18T11:10:31Z</dcterms:created>
  <dcterms:modified xsi:type="dcterms:W3CDTF">2026-09-18T11:10:31Z</dcterms:modified>
</cp:coreProperties>
</file>